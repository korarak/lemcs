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256032" cy="68580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66928"/>
            <a:ext cx="10515600" cy="384048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6217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Sarabun"/>
              </a:rPr>
              <a:t>LOEI EDUCATIONAL MINDCARE SYSTEM  ·  ระบบดิจิทัลประเมินสุขภาพจิตนักเรียน จังหวัดเลย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00E5C8"/>
                </a:solidFill>
                <a:latin typeface="Sarabun"/>
              </a:rPr>
              <a:t>LEMCS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0FE"/>
                </a:solidFill>
                <a:latin typeface="Sarabun"/>
              </a:rPr>
              <a:t>ระบบดิจิทัลประเมินสุขภาพจิตนักเรียน  อนุบาล–มัธยมปลาย  จังหวัดเลย  ประเทศไทย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015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Sarabun"/>
              </a:rPr>
              <a:t>มาตรฐานสากล 3 แบบประเมิน  ·  Real-time Dashboard  ·  Crisis Alert อัตโนมัติ  ·  PDPA Compliant  ·  Offline PWA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297680"/>
            <a:ext cx="2240280" cy="960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4297680"/>
            <a:ext cx="2240280" cy="457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37083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8"/>
                </a:solidFill>
                <a:latin typeface="Sarabun"/>
              </a:rPr>
              <a:t>100,000+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64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นักเรียนในระบบ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3592" y="4297680"/>
            <a:ext cx="2240280" cy="960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93592" y="4297680"/>
            <a:ext cx="2240280" cy="457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437083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8"/>
                </a:solidFill>
                <a:latin typeface="Sarabu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864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แบบประเมินมาตรฐาน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4297680"/>
            <a:ext cx="2240280" cy="960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98464" y="4297680"/>
            <a:ext cx="2240280" cy="457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437083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8"/>
                </a:solidFill>
                <a:latin typeface="Sarabun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4864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ระดับสิทธิ์ RBAC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3336" y="4297680"/>
            <a:ext cx="2240280" cy="960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03336" y="4297680"/>
            <a:ext cx="2240280" cy="457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437083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E5C8"/>
                </a:solidFill>
                <a:latin typeface="Sarabun"/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864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Crisis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382512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Executive &amp; Technical Overview  ·  พ.ศ. 2568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ปัญหาที่เราพบ — ที่มาของโครงการ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ที่มา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2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539496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5029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06424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สถานการณ์สุขภาพจิตเด็กและเยาวชน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51389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1 ใน 7 เด็กทั่วโลกมีปัญหาสุขภาพจิต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เยาวชนไทยอายุ 10-19 ปี มีความเสี่ยงกว่า 15%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ส่วนใหญ่ไม่ได้รับการตรวจคัดกรองหรือช่วยเหลือ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การพบล่าช้า → ผลกระทบระยะยาวรุนแรง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987552"/>
            <a:ext cx="539496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987552"/>
            <a:ext cx="50292" cy="2286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1106424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ปัญหาในโรงเรียนปัจจุบัน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81328"/>
            <a:ext cx="51389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ครูแนะแนว 1 คน รับผิดชอบนักเรียนหลายร้อยคน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ระบบกระดาษ: ช้า ข้อมูลกระจัดกระจาย ค้นหายาก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ไม่มีระบบ Early Warning ระดับจังหวัด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รอผลการประเมินแต่ละรอบใช้เวลาหลายวัน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01568"/>
            <a:ext cx="539496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01568"/>
            <a:ext cx="5029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352044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ความเสี่ยงที่อาจพลาด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95344"/>
            <a:ext cx="51389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ไม่มีระบบแจ้งเตือนกรณีวิกฤต (suicide risk)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ผู้บริหารไม่เห็นภาพรวมระดับอำเภอ-จังหวัด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ข้อมูลประวัติ ติดตามแนวโน้มไม่ได้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นักเรียนในพื้นที่ห่างไกลถูกมองข้ามง่าย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401568"/>
            <a:ext cx="539496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0292" cy="2286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3520440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ข้อกำหนด PDPA ที่ต้องปฏิบัติตาม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95344"/>
            <a:ext cx="513892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ข้อมูลสุขภาพจิต = ข้อมูลอ่อนไหว (Sensitive Data)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พ.ร.บ. PDPA บังคับเข้ารหัสและควบคุมการเข้าถึง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ระบบกระดาษไม่สามารถรองรับมาตรฐานได้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ต้องมี Audit Log ทุกการเข้าถึงข้อมูลนักเรียน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LEMCS คืออะไร?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ภาพรวมระบบ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C8"/>
                </a:solidFill>
                <a:latin typeface="Sarabun"/>
              </a:rPr>
              <a:t>LEMCS  (Loei Educational MindCare System)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300" b="0" i="0">
                <a:solidFill>
                  <a:srgbClr val="E8F0FE"/>
                </a:solidFill>
                <a:latin typeface="Sarabun"/>
              </a:rPr>
              <a:t>คือ แพลตฟอร์มดิจิทัล สำหรับคัดกรองและติดตามสุขภาพจิต</a:t>
            </a:r>
          </a:p>
          <a:p>
            <a:pPr algn="l"/>
            <a:r>
              <a:rPr sz="1300" b="0" i="0">
                <a:solidFill>
                  <a:srgbClr val="E8F0FE"/>
                </a:solidFill>
                <a:latin typeface="Sarabun"/>
              </a:rPr>
              <a:t>นักเรียนระดับ อนุบาล–มัธยมปลาย ของจังหวัดเลยแบบครบวงจร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200" b="0" i="0">
                <a:solidFill>
                  <a:srgbClr val="8FA3BC"/>
                </a:solidFill>
                <a:latin typeface="Sarabun"/>
              </a:rPr>
              <a:t>ออกแบบให้ "นักเรียนทำแบบประเมินเองได้" บนมือถือ</a:t>
            </a:r>
          </a:p>
          <a:p>
            <a:pPr algn="l"/>
            <a:r>
              <a:rPr sz="1200" b="0" i="0">
                <a:solidFill>
                  <a:srgbClr val="8FA3BC"/>
                </a:solidFill>
                <a:latin typeface="Sarabun"/>
              </a:rPr>
              <a:t>ขณะที่ครูและผู้บริหารเห็นผลแบบ Real-time</a:t>
            </a:r>
          </a:p>
          <a:p>
            <a:pPr algn="l"/>
            <a:r>
              <a:rPr sz="1200" b="0" i="0">
                <a:solidFill>
                  <a:srgbClr val="8FA3BC"/>
                </a:solidFill>
                <a:latin typeface="Sarabun"/>
              </a:rPr>
              <a:t>พร้อมระบบแจ้งเตือนอัตโนมัติทันทีที่พบความเสี่ยง</a:t>
            </a:r>
          </a:p>
          <a:p>
            <a:pPr algn="l"/>
            <a:r>
              <a:rPr sz="8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คุณสมบัติสำคัญ: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Web Application — ไม่ต้องติดตั้งแอปเพิ่มเติม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Mobile-first — รองรับมือถือทุกรุ่น ขนาด 375px+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Offline PWA — ใช้งานได้แม้ไม่มีอินเตอร์เน็ต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PDPA Compliant — เข้ารหัส AES-256 ทุก record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✓  Multi-tenant — รองรับขยายไปหลายจังหวัด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005840"/>
            <a:ext cx="4647895" cy="13258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005840"/>
            <a:ext cx="50292" cy="132588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9752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6" y="1124712"/>
            <a:ext cx="3998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กลุ่มเป้าหมาย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499616"/>
            <a:ext cx="43918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 อนุบาล–มัธยมปลาย ทั่วจังหวัดเลย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กว่า 100,000 คน ทุกโรงเรียน ทุกอำเภอ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2423160"/>
            <a:ext cx="4647895" cy="13258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2423160"/>
            <a:ext cx="50292" cy="13258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25420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6" y="2542032"/>
            <a:ext cx="3998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ขอบเขตให้บริการ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916936"/>
            <a:ext cx="43918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ครอบคลุมทุกโรงเรียนในจังหวัดเลย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รองรับขยายไปจังหวัดอื่น (Multi-tenant)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3840480"/>
            <a:ext cx="4647895" cy="13258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3840480"/>
            <a:ext cx="50292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39593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6" y="3959352"/>
            <a:ext cx="3998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ช่องทางใช้งาน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4334256"/>
            <a:ext cx="43918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เว็บเบราว์เซอร์ บนมือถือ แท็บเล็ต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หรือคอมพิวเตอร์ — ไม่ต้องติดตั้งแอป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5257800"/>
            <a:ext cx="4647895" cy="13258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95160" y="5257800"/>
            <a:ext cx="50292" cy="13258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9752" y="53766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🏗️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5376672"/>
            <a:ext cx="39986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พร้อมใช้งาน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5751576"/>
            <a:ext cx="43918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Production URL: lemcs.loeitech.ac.th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API: api-lemcs.loeitech.ac.th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ผู้ใช้งานและระดับสิทธิ์ (RBAC) — 5 ระดับ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ผู้ใช้งาน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4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24128"/>
          <a:ext cx="117043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4846320"/>
                <a:gridCol w="1828800"/>
                <a:gridCol w="118872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ผู้ใช้งาน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บทบาท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สิ่งที่ทำได้ในระบบ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ขอบเขตข้อมูล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Session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🧒 นักเรียน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Student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ทำแบบประเมิน · ดูผลและคำแนะนำ · ดูประวัติตัวเอง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เฉพาะตนเอง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60 นาที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👩‍🏫 ครูแนะแนว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School Admin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ติดตามนักเรียน · รับ Alert · Dashboard โรงเรียน · Export รายงาน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ในโรงเรียนตัวเอง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8 ชั่วโมง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🏛️ ศึกษานิเทศก์/ผอ.เขต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Commission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เปรียบเทียบข้ามโรงเรียน · แนวโน้มระดับอำเภอ · รายงาน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ในอำเภอตัวเอง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8 ชั่วโมง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🏢 ผู้บริหารจังหวัด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Super Admin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ภาพรวมทั้งจังหวัด · วิเคราะห์ Trend · Import นักเรียน · จัดการผู้ใช้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ทั้งจังหวัด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8 ชั่วโมง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⚙️ System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System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ทุกอย่าง + Audit Log + System Config + Multi-tenant mgmt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 tenant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8 ชั่วโมง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SECTION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7860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arabun"/>
              </a:rPr>
              <a:t>เครื่องมือและฟีเจอร์หลัก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Sarabun"/>
              </a:rPr>
              <a:t>แบบประเมินมาตรฐานสากล  ·  Student Journey  ·  Crisis Alert  ·  Dashboard  ·  Mobile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แบบประเมินมาตรฐานสากล 3 ชุด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เครื่องมือประเมิน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6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3611880" cy="49834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3611880" cy="5029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0972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  <a:latin typeface="Sarabun"/>
              </a:rP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81912"/>
            <a:ext cx="3355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C040"/>
                </a:solidFill>
                <a:latin typeface="Sarabun"/>
              </a:rPr>
              <a:t>ST-5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20823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วัดระดับความเครียด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340864"/>
            <a:ext cx="3246120" cy="18288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45059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อายุเป้าหมาย: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45059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15 ปีขึ้นไป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3405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จำนวนข้อ: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7340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5 ข้อคำถาม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1752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ช่วงคะแนน: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301752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15 คะแนน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0098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ระดับผล: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33009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4 ระดับ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58444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ปกติ: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58444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≤ 4 คะแนน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6791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เล็กน้อย: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38679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5 – 7 คะแนน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5137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ปานกลาง: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1408" y="415137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8 – 9 คะแนน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3484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รุนแรง: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348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≥ 10 คะแนน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71830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Suicide Flag: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1408" y="471830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ไม่มี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00176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มาตรฐาน: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1408" y="5001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กรมสุขภาพจิต ไทย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1688" y="987552"/>
            <a:ext cx="3611880" cy="49834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1688" y="987552"/>
            <a:ext cx="3611880" cy="5029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10972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  <a:latin typeface="Sarabun"/>
              </a:rPr>
              <a:t>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1581912"/>
            <a:ext cx="3355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90FF"/>
                </a:solidFill>
                <a:latin typeface="Sarabun"/>
              </a:rPr>
              <a:t>PHQ-A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2020823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ภาวะซึมเศร้าวัยรุ่น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2340864"/>
            <a:ext cx="3246120" cy="18288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245059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อายุเป้าหมาย: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34456" y="245059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11 – 20 ปี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273405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จำนวนข้อ: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4456" y="27340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9 หลัก + BQ1/BQ2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301752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ช่วงคะแนน: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34456" y="301752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27 คะแนน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330098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ระดับผล: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34456" y="33009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5 ระดับ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358444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None: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4456" y="358444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386791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Mild: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34456" y="38679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5 – 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15137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Moderate: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34456" y="415137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10 – 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443484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Severe: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34456" y="44348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15 – 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471830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Very Severe: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4456" y="471830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≥ 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500176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Suicide Flag: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34456" y="5001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Q9 ≥ 1 หรือ BQ1/BQ2 = true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4736" y="987552"/>
            <a:ext cx="3611880" cy="498348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74736" y="987552"/>
            <a:ext cx="3611880" cy="502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39328" y="10972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  <a:latin typeface="Sarabun"/>
              </a:rPr>
              <a:t>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39328" y="1581912"/>
            <a:ext cx="3355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CC71"/>
                </a:solidFill>
                <a:latin typeface="Sarabun"/>
              </a:rPr>
              <a:t>CDI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8" y="2020823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ภาวะซึมเศร้าเด็ก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39328" y="2340864"/>
            <a:ext cx="3246120" cy="18288"/>
          </a:xfrm>
          <a:prstGeom prst="rect">
            <a:avLst/>
          </a:prstGeom>
          <a:solidFill>
            <a:srgbClr val="1E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9328" y="245059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อายุเป้าหมาย: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47504" y="245059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7 – 17 ปี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8" y="273405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จำนวนข้อ: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47504" y="27340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27 ข้อ (ก/ข/ค)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39328" y="301752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ช่วงคะแนน: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47504" y="301752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54 คะแนน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9328" y="330098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ระดับผล: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47504" y="33009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2 ระดับ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39328" y="358444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ปกติ: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47504" y="358444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0 – 14 คะแนน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39328" y="386791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มีนัยทางคลินิก: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47504" y="38679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≥ 15 → แจ้งเตือน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9328" y="415137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Group A: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47504" y="415137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ก=0, ข=1, ค=2 (ปกติ)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8" y="443484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Group B: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47504" y="44348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ก=2, ข=1, ค=0 (invert)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39328" y="471830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Suicide Flag: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47504" y="471830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ไม่มี — ≥15 triggers alert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8" y="5001768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มาตรฐาน: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47504" y="5001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F0FE"/>
                </a:solidFill>
                <a:latin typeface="Sarabun"/>
              </a:rPr>
              <a:t>Maria Kovacs 1985, อายุ 7-17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6062472"/>
            <a:ext cx="11094415" cy="32004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" y="610819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B1"/>
                </a:solidFill>
                <a:latin typeface="Sarabun"/>
              </a:rPr>
              <a:t>💡  ระบบเลือกแบบประเมินอัตโนมัติตามอายุ  |  15-17 ปี → ครบ 3 ชุด  |  11-14 ปี → CDI + PHQ-A  |  7-10 ปี → CDI เท่านั้น  |  &lt;7 ปี หรือไม่มีวันเกิด → ไม่แสดง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เส้นทางการใช้งาน — มุมมองนักเรียน: Login +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การทำงาน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7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11094415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0058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C8"/>
                </a:solidFill>
                <a:latin typeface="Sarabun"/>
              </a:rPr>
              <a:t>ขั้นตอนการเข้าสู่ระบบ — ไม่มี OTP ทุกสังกัด  |  เลือกสังกัดก่อน จะได้ฟอร์มที่แตกต่างกัน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5440680" cy="226771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544068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8"/>
                </a:solidFill>
                <a:latin typeface="Sarabun"/>
              </a:rPr>
              <a:t>สพฐ. / อาชีวะ / เอกชน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2821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POST /api/auth/login/bypass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1984248"/>
            <a:ext cx="228600" cy="2286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9842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526"/>
                </a:solidFill>
                <a:latin typeface="Sarabu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0025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เลือกสังกัด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185416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สพฐ. / อาชีวะ / เอกชน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2377440"/>
            <a:ext cx="228600" cy="2286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3774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526"/>
                </a:solidFill>
                <a:latin typeface="Sarabu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23957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เลขบัตรประชาชน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257860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13 หลัก (เข้ารหัส AES-256 ในฐานข้อมูล)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2770632"/>
            <a:ext cx="228600" cy="2286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7706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526"/>
                </a:solidFill>
                <a:latin typeface="Sarabu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2788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วันเกิด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2971800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DD/MM/YYYY พ.ศ.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3163824"/>
            <a:ext cx="228600" cy="2286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16382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526"/>
                </a:solidFill>
                <a:latin typeface="Sarabun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31821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รหัสนักเรียน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3364992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ออกโดยโรงเรียน (student_code)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325880"/>
            <a:ext cx="5440680" cy="226771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1325880"/>
            <a:ext cx="544068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14173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90FF"/>
                </a:solidFill>
                <a:latin typeface="Sarabun"/>
              </a:rPr>
              <a:t>สกร. (การศึกษานอกระบบ)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172821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POST /api/auth/login/skr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7648" y="1984248"/>
            <a:ext cx="228600" cy="2286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19842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526"/>
                </a:solidFill>
                <a:latin typeface="Sarabun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0256" y="20025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เลือกสังกัด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0256" y="2185416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สกร.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7648" y="2377440"/>
            <a:ext cx="228600" cy="2286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3774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526"/>
                </a:solidFill>
                <a:latin typeface="Sarabun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23957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รหัสนักเรียน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256" y="257860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ออกโดยสถานศึกษา สกร.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2770632"/>
            <a:ext cx="228600" cy="2286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27706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526"/>
                </a:solidFill>
                <a:latin typeface="Sarabun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0256" y="2788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0FE"/>
                </a:solidFill>
                <a:latin typeface="Sarabun"/>
              </a:rPr>
              <a:t>วันเกิด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0256" y="2971800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DD/MM/YYYY พ.ศ. (ย้อนหลังได้ 90 ปี)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703320"/>
            <a:ext cx="11094415" cy="256032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3739896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C8"/>
                </a:solidFill>
                <a:latin typeface="Sarabun"/>
              </a:rPr>
              <a:t>หลังเข้าสู่ระบบ — Dashboard Flow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995928"/>
            <a:ext cx="1812493" cy="2752344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3995928"/>
            <a:ext cx="1812493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069080"/>
            <a:ext cx="181249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  <a:latin typeface="Sarabun"/>
              </a:rPr>
              <a:t>PDPA Consent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398264"/>
            <a:ext cx="1812493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บังคับก่อน
ครั้งแรก
เท่านั้น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7709" y="3995928"/>
            <a:ext cx="1812493" cy="2752344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97709" y="3995928"/>
            <a:ext cx="1812493" cy="457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97709" y="4069080"/>
            <a:ext cx="181249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C040"/>
                </a:solidFill>
                <a:latin typeface="Sarabun"/>
              </a:rPr>
              <a:t>ตรวจรอบสำรวจ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97709" y="4398264"/>
            <a:ext cx="1812493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Admin เปิด → ทำได้
ปิดรอบ → แสดง
แจ้งเตือนสีเหลือง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46778" y="3995928"/>
            <a:ext cx="1812493" cy="2752344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46778" y="3995928"/>
            <a:ext cx="1812493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46778" y="4069080"/>
            <a:ext cx="181249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9B1"/>
                </a:solidFill>
                <a:latin typeface="Sarabun"/>
              </a:rPr>
              <a:t>Dashboard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46778" y="4398264"/>
            <a:ext cx="1812493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PendingAssessments
+ WellnessScore
+ AssessmentHistory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5847" y="3995928"/>
            <a:ext cx="1812493" cy="2752344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95847" y="3995928"/>
            <a:ext cx="1812493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95847" y="4069080"/>
            <a:ext cx="181249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90FF"/>
                </a:solidFill>
                <a:latin typeface="Sarabun"/>
              </a:rPr>
              <a:t>ทำแบบประเมิน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5847" y="4398264"/>
            <a:ext cx="1812493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ระบบเลือกชุดตามอายุ
อัตโนมัติ
(ST-5/PHQ-A/CDI)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44916" y="3995928"/>
            <a:ext cx="1812493" cy="2752344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944916" y="3995928"/>
            <a:ext cx="1812493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44916" y="4069080"/>
            <a:ext cx="181249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9B6"/>
                </a:solidFill>
                <a:latin typeface="Sarabun"/>
              </a:rPr>
              <a:t>ผลลัพธ์ทันที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44916" y="4398264"/>
            <a:ext cx="1812493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คะแนน + ระดับ
+ คำแนะนำ
ที่เหมาะสม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93985" y="3995928"/>
            <a:ext cx="1812493" cy="2752344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93985" y="3995928"/>
            <a:ext cx="1812493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93985" y="4069080"/>
            <a:ext cx="181249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74C3C"/>
                </a:solidFill>
                <a:latin typeface="Sarabun"/>
              </a:rPr>
              <a:t>Crisis → 1323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93985" y="4398264"/>
            <a:ext cx="1812493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FA3BC"/>
                </a:solidFill>
                <a:latin typeface="Sarabun"/>
              </a:rPr>
              <a:t>แสดงสายด่วน
กรมสุขภาพจิต
หากพบความเสี่ยง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Crisis Alert System — ระบบแจ้งเตือนวิกฤตในแอป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ระบบแจ้งเตือน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  <a:latin typeface="Sarabun"/>
              </a:rPr>
              <a:t>ตรวจจับความเสี่ยงทันทีหลังนักเรียนส่งแบบประเมิน</a:t>
            </a:r>
          </a:p>
          <a:p>
            <a:pPr algn="l"/>
            <a:r>
              <a:rPr sz="4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เงื่อนไขที่ trigger Crisis Alert:</a:t>
            </a:r>
          </a:p>
          <a:p>
            <a:pPr algn="l"/>
            <a:r>
              <a:rPr sz="1000" b="0" i="0">
                <a:solidFill>
                  <a:srgbClr val="E8F0FE"/>
                </a:solidFill>
                <a:latin typeface="Sarabun"/>
              </a:rPr>
              <a:t>• PHQ-A ข้อ 9 (Q9) ≥ 1 คะแนน (คิดเรื่องทำร้ายตัวเอง)</a:t>
            </a:r>
          </a:p>
          <a:p>
            <a:pPr algn="l"/>
            <a:r>
              <a:rPr sz="1000" b="0" i="0">
                <a:solidFill>
                  <a:srgbClr val="E8F0FE"/>
                </a:solidFill>
                <a:latin typeface="Sarabun"/>
              </a:rPr>
              <a:t>• PHQ-A Bonus Q1 หรือ BQ2 = true</a:t>
            </a:r>
          </a:p>
          <a:p>
            <a:pPr algn="l"/>
            <a:r>
              <a:rPr sz="1000" b="0" i="0">
                <a:solidFill>
                  <a:srgbClr val="E8F0FE"/>
                </a:solidFill>
                <a:latin typeface="Sarabun"/>
              </a:rPr>
              <a:t>• CDI คะแนนรวม ≥ 15 (มีนัยสำคัญทางคลินิก)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กระบวนการแจ้งเตือน (Synchronous — ไม่ผ่านคิว Celery):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329184" cy="32918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526"/>
                </a:solidFill>
                <a:latin typeface="Sarabu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163824"/>
            <a:ext cx="6629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ตรวจพบความเสี่ยง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410712"/>
            <a:ext cx="6629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สร้าง Critical Alert record ทันที
บันทึก timestamp + ข้อมูลนักเรียน (Synchronous)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329184" cy="32918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776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526"/>
                </a:solidFill>
                <a:latin typeface="Sarabu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986784"/>
            <a:ext cx="6629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In-App Dashboard แจ้งเตือน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233672"/>
            <a:ext cx="6629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ปรากฏใน Admin Dashboard Section B ทันที
Refresh อัตโนมัติทุก 30 วินาที
ติดตามสถานะ: รอดำเนินการ / กำลังดูแล / เสร็จสิ้น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329184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526"/>
                </a:solidFill>
                <a:latin typeface="Sarabun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809744"/>
            <a:ext cx="6629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หน้าจอนักเรียน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056632"/>
            <a:ext cx="6629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แสดงสายด่วน 1323 กรมสุขภาพจิต
พร้อมคำแนะนำขอความช่วยเหลือทันที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1005840"/>
            <a:ext cx="3706063" cy="265176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6992" y="1005840"/>
            <a:ext cx="50292" cy="26517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4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1124712"/>
            <a:ext cx="3056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In-App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1499616"/>
            <a:ext cx="3450031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Admin เห็น Alert ใน Section B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ทันทีที่นักเรียนส่งผล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Refresh ทุก 30 วินาที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36992" y="3794760"/>
            <a:ext cx="3706063" cy="265176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3794760"/>
            <a:ext cx="50292" cy="2651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4" y="39136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3913632"/>
            <a:ext cx="3056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สายด่วน 1323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4" y="4288536"/>
            <a:ext cx="3450031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แสดงบนหน้าจอนักเรียนทันที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กรมสุขภาพจิต — 24 ชั่วโมง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พร้อมคำแนะนำ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Admin Dashboard — 4 ส่วนหลักของการวิเคราะห์ข้อมูล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9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5432907" cy="2103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5432907" cy="502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987552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987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526"/>
                </a:solidFill>
                <a:latin typeface="Sarabun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060704"/>
            <a:ext cx="49299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ส่วน A — ผู้บริหาร (Executive)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389888"/>
            <a:ext cx="5176875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StatsCards (refresh 60 วินาที): จำนวนนักเรียน,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การประเมินวันนี้, ความเสี่ยงสูง, รอดำเนินการ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RiskFunnelChart: สัดส่วนความเสี่ยงทุกระดับ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InsightPanel: ข้อสรุปอัตโนมัติ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AffiliationStudentStats: สถิติแยกสังกัด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147" y="987552"/>
            <a:ext cx="5432907" cy="2103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147" y="987552"/>
            <a:ext cx="5432907" cy="502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987552"/>
            <a:ext cx="347472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987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526"/>
                </a:solidFill>
                <a:latin typeface="Sarabun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0771" y="1060704"/>
            <a:ext cx="49299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ส่วน B — ศูนย์ปฏิบัติการ (Operations)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739" y="1389888"/>
            <a:ext cx="5176875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AlertStatusSummary: สรุปสถานะ Alert ทั้งหมด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RecentAlerts: 8 รายการล่าสุด (refresh 30 วินาที)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Quick Actions: อัปเดตสถานะ Alert ทันที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สถานะ: รอดำเนินการ / กำลังดูแล / เสร็จสิ้น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55264"/>
            <a:ext cx="5432907" cy="2103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55264"/>
            <a:ext cx="5432907" cy="5029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55264"/>
            <a:ext cx="347472" cy="34747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552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526"/>
                </a:solidFill>
                <a:latin typeface="Sarabun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328416"/>
            <a:ext cx="49299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ส่วน C — วิเคราะห์เชิงลึก (Analytics)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657600"/>
            <a:ext cx="5176875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TrendChart: แนวโน้มรายเดือน/สัปดาห์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MoMDeltaChart: เปรียบเทียบเดือนต่อเดือน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SeverityChart: Doughnut แยกระดับความเสี่ยง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AssessmentTypeChart: Stacked Bar แยกประเภท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RiskProgressBars: Progress bar รายระดับ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0147" y="3255264"/>
            <a:ext cx="5432907" cy="21031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0147" y="3255264"/>
            <a:ext cx="5432907" cy="502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0147" y="3255264"/>
            <a:ext cx="347472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0147" y="32552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1526"/>
                </a:solidFill>
                <a:latin typeface="Sarabun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0771" y="3328416"/>
            <a:ext cx="49299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ส่วน D — เปรียบเทียบองค์กร (Comparison)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4739" y="3657600"/>
            <a:ext cx="5176875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OrgCompareChart: 100% Stacked Bar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Auto group: district → schools,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affiliation → districts, else → affiliations</a:t>
            </a:r>
          </a:p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ดาวน์โหลด PNG ได้ทุก chart (DownloadBtn)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04688"/>
            <a:ext cx="11094415" cy="1261872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596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C8"/>
                </a:solidFill>
                <a:latin typeface="Sarabun"/>
              </a:rPr>
              <a:t>FilterBar: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596128"/>
            <a:ext cx="9722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E"/>
                </a:solidFill>
                <a:latin typeface="Sarabun"/>
              </a:rPr>
              <a:t>survey_round_id  |  affiliation_id  |  district_id  |  school_id  |  assessment_type  |  grade  |  gender  |  date_from  |  date_to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8704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C8"/>
                </a:solidFill>
                <a:latin typeface="Sarabun"/>
              </a:rPr>
              <a:t>Export: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870448"/>
            <a:ext cx="9722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E"/>
                </a:solidFill>
                <a:latin typeface="Sarabun"/>
              </a:rPr>
              <a:t>PDF (lemcs_report.pdf)  |  Excel (lemcs_report.xlsx)  |  PNG per chart (DownloadBtn)  |  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Mobile PWA — ใช้งานได้ทุกที่ แม้ไม่มีอินเตอร์เน็ต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Mobile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C8"/>
                </a:solidFill>
                <a:latin typeface="Sarabun"/>
              </a:rPr>
              <a:t>Progressive Web App (PWA)</a:t>
            </a:r>
          </a:p>
          <a:p>
            <a:pPr algn="l"/>
            <a:r>
              <a:rPr sz="4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200" b="0" i="0">
                <a:solidFill>
                  <a:srgbClr val="E8F0FE"/>
                </a:solidFill>
                <a:latin typeface="Sarabun"/>
              </a:rPr>
              <a:t>ไม่ต้องดาวน์โหลดจาก App Store — เปิดเว็บแล้วใช้ได้ทันที</a:t>
            </a:r>
          </a:p>
          <a:p>
            <a:pPr algn="l"/>
            <a:r>
              <a:rPr sz="1200" b="0" i="0">
                <a:solidFill>
                  <a:srgbClr val="E8F0FE"/>
                </a:solidFill>
                <a:latin typeface="Sarabun"/>
              </a:rPr>
              <a:t>เพิ่มไอคอนหน้า Home Screen ได้เหมือนแอปทั่วไป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ฟีเจอร์ Offline: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Service Worker cache คำถาม 3 แบบประเมินไว้ในเครื่อง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ทำแบบประเมินได้แม้สัญญาณขาด หรืออยู่ในโรงเรียนห่างไกล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ระบบ Sync ข้อมูลอัตโนมัติเมื่อกลับออนไลน์</a:t>
            </a:r>
          </a:p>
          <a:p>
            <a:pPr algn="l"/>
            <a:r>
              <a:rPr sz="5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1" i="0">
                <a:solidFill>
                  <a:srgbClr val="00E5C8"/>
                </a:solidFill>
                <a:latin typeface="Sarabun"/>
              </a:rPr>
              <a:t>การรองรับอุปกรณ์: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Mobile-first design — รองรับหน้าจอ 375px ขึ้นไป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ทดสอบบน Android, iOS (Chrome, Safari)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Font ภาษาไทย: Noto Sans Thai / Sarabun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005840"/>
            <a:ext cx="4035247" cy="12984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07808" y="1005840"/>
            <a:ext cx="50292" cy="12984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3024" y="1124712"/>
            <a:ext cx="3386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Mobile-first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499616"/>
            <a:ext cx="37792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หน้าจอ 375px+ ใช้งานง่าย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บนมือถือทุกรุ่น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7808" y="2395728"/>
            <a:ext cx="4035247" cy="12984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2395728"/>
            <a:ext cx="50292" cy="12984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✈️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514600"/>
            <a:ext cx="3386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Offline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89504"/>
            <a:ext cx="37792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ทำแบบประเมินได้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แม้ไม่มีอินเตอร์เน็ต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7808" y="3785616"/>
            <a:ext cx="4035247" cy="12984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07808" y="3785616"/>
            <a:ext cx="50292" cy="129844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90448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904488"/>
            <a:ext cx="3386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Fast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79392"/>
            <a:ext cx="37792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Cached assets โหลดเร็ว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แม้เน็ตช้า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5175504"/>
            <a:ext cx="4035247" cy="1298448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07808" y="5175504"/>
            <a:ext cx="50292" cy="129844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52943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5294376"/>
            <a:ext cx="33860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Auto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669280"/>
            <a:ext cx="3779215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Sync อัตโนมัติ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เมื่อกลับออนไลน์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SECTION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7860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arabun"/>
              </a:rPr>
              <a:t>ความปลอดภัยและ PDPA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Sarabun"/>
              </a:rPr>
              <a:t>AES-256 Encryption  ·  RBAC 5 ระดับ  ·  Audit Log  ·  JWT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ความปลอดภัยข้อมูลและ PDPA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ความปลอดภัย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12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50292" cy="2286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0642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AES-256 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81328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เลขบัตรประชาชนเข้ารหัส AES-256 ทุก record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ไม่ปรากฏ plain text ใน DB, URL, หรือ Log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Encryption Key ต้องยาว 32 ตัวอักษร (256-bit)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ระบบ crash ทันทีหาก Key ไม่ครบ 32 ตัว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987552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987552"/>
            <a:ext cx="50292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10642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PDPA Consent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481328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หน้า Consent บังคับก่อนทำแบบประเมินครั้งแรก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บันทึกการยินยอม + Timestamp + IP address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นักเรียนขอถอนความยินยอมได้ตามสิทธิ์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ไม่มี PII ในรูปภาพ URL หรือ query 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987552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987552"/>
            <a:ext cx="50292" cy="2286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10642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10642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481328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บันทึกทุกการเข้าถึงข้อมูลนักเรียน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เก็บ user_id + timestamp + action + resource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รองรับการตรวจสอบตาม PDPA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ค้นหาและ Export ได้โดย System 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01568"/>
            <a:ext cx="50292" cy="2286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Session &amp;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นักเรียน: JWT หมดอายุ 60 นาที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Admin ทุกระดับ: JWT หมดอายุ 8 ชั่วโมง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Login: bypass (สพฐ./อาชีวะ/เอกชน) หรือ skr — ไม่มี OTP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Rate limit 100 req/นาที ต่อ IP ผ่าน Redis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3401568"/>
            <a:ext cx="50292" cy="2286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No PII in 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ไม่มีชื่อ เลขบัตร หรือข้อมูลส่วนตัวใน URL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ทุก endpoint ใช้ UUID ไม่ใช่ชื่อหรือ ID จริง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ป้องกันการ expose ผ่าน Browser history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หรือ Server access 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401568"/>
            <a:ext cx="5029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Backup &amp; Recovery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pg_dump อัตโนมัติทุกวันเวลา 02:00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ส่งไป MinIO Object Storage (encrypted)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รองรับ Point-in-time recovery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ตรวจสอบ Backup integrity อัตโนมัติ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Role-Based Access Control (RBAC) — ระดับสิทธิ์และขอบเขตข้อมูล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ความปลอดภัย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13 / 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24128"/>
          <a:ext cx="1097280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63040"/>
                <a:gridCol w="3200400"/>
                <a:gridCol w="2560320"/>
                <a:gridCol w="1828800"/>
              </a:tblGrid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บทบาท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Scope ข้อมูล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อ่านได้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เขียน/แก้ไข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E5C8"/>
                          </a:solidFill>
                          <a:latin typeface="Sarabun"/>
                        </a:rPr>
                        <a:t>ไม่สามารถ</a:t>
                      </a:r>
                    </a:p>
                  </a:txBody>
                  <a:tcPr>
                    <a:solidFill>
                      <a:srgbClr val="081E38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🧒 Student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ตัวเอง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ผลตัวเอง, ประวัติ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ทำแบบประเมิน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ดูคนอื่น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👩‍🏫 School Admin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โรงเรียนตัวเอง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นักเรียนทุกคนในโรงเรียน, Alerts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ดูแล Alert, Export รายงาน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ข้ามโรงเรียน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🏛️ Commission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ระดับอำเภอ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ทุกโรงเรียนในอำเภอ, รายงานรวม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Export รายงาน, ดู Trend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ข้ามอำเภอ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🏢 Super Admin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ทั้งจังหวัด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ทุกโรงเรียน, ทุก Alert, ทุกรายงาน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จัดการผู้ใช้, Import CSV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ข้าม tenant</a:t>
                      </a:r>
                    </a:p>
                  </a:txBody>
                  <a:tcPr>
                    <a:solidFill>
                      <a:srgbClr val="122036"/>
                    </a:solidFill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F0FE"/>
                          </a:solidFill>
                          <a:latin typeface="Sarabun"/>
                        </a:rPr>
                        <a:t>⚙️ System Admin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 tenant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ทุกอย่าง + Audit Log + System Config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จัดการ tenant, ตั้งค่าระบบ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E8F0FE"/>
                          </a:solidFill>
                          <a:latin typeface="Sarabun"/>
                        </a:rPr>
                        <a:t>ไม่มี</a:t>
                      </a:r>
                    </a:p>
                  </a:txBody>
                  <a:tcPr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SECTION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7860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arabun"/>
              </a:rPr>
              <a:t>สถาปัตยกรรมและเทคโนโลยี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Sarabun"/>
              </a:rPr>
              <a:t>Next.js 14  ·  FastAPI Python 3.12  ·  PostgreSQL 16  ·  Redis 7  ·  MinIO  · 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สถาปัตยกรรมระบบ (System 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เทคโนโลยี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15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1094415" cy="11704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24128"/>
            <a:ext cx="50292" cy="11704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155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Sarabun"/>
              </a:rPr>
              <a:t>🖥️  Frontend (ผู้ใช้งานโต้ตอบ)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481328"/>
            <a:ext cx="108383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Next.js 14 App Router  ·  TypeScript  ·  Tailwind CSS + DaisyUI  ·  Chart.js (กราฟ)  ·  SWR (data fetching)  ·  next-pwa (Offline)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1094415" cy="11704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0292" cy="1170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77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  <a:latin typeface="Sarabun"/>
              </a:rPr>
              <a:t>⚙️  Backend (ประมวลผล / 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43200"/>
            <a:ext cx="108383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FastAPI Python 3.12  ·  SQLAlchemy Async (ORM)  ·  Alembic (DB migration)  ·  Celery (background tasks)  ·  JWT + OTP (Auth)  ·  Axios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47872"/>
            <a:ext cx="11094415" cy="11704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47872"/>
            <a:ext cx="50292" cy="1170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39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Sarabun"/>
              </a:rPr>
              <a:t>🗄️  Data Layer (จัดเก็บข้อมูล)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005072"/>
            <a:ext cx="108383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PostgreSQL 16 (ฐานข้อมูลหลัก)  ·  PgBouncer (connection pool)  ·  Redis 7 (cache + sessions)  ·  MinIO (object storage, backup)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9744"/>
            <a:ext cx="11094415" cy="11704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09744"/>
            <a:ext cx="50292" cy="11704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90118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  <a:latin typeface="Sarabun"/>
              </a:rPr>
              <a:t>🐳  Infrastructure (ระบบโครงสร้าง)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266944"/>
            <a:ext cx="108383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FA3BC"/>
                </a:solidFill>
                <a:latin typeface="Sarabun"/>
              </a:rPr>
              <a:t>Docker Compose  ·  Nginx Proxy Manager (reverse proxy + SSL)  ·  Grafana (monitoring)  ·  Portainer (container mgmt)  ·  Daily Backup Script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071616"/>
            <a:ext cx="11094415" cy="5029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199632"/>
            <a:ext cx="108383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9B1"/>
                </a:solidFill>
                <a:latin typeface="Sarabun"/>
              </a:rPr>
              <a:t>🌐  Production:  Frontend → lemcs.loeitech.ac.th  ·  API → api-lemcs.loeitech.ac.th  ·  Grafana → grafana-lemcs.loeitech.ac.th  ·  MinIO → minio-lemcs.loeitech.ac.th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โครงสร้างฐานข้อมูล — Multi-tenant, 9+2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C8"/>
                </a:solidFill>
                <a:latin typeface="Sarabun"/>
              </a:rPr>
              <a:t>Multi-tenant Architecture</a:t>
            </a:r>
          </a:p>
          <a:p>
            <a:pPr algn="l"/>
            <a:r>
              <a:rPr sz="4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system.* — tenants (registry จังหวัด) + super_admins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loei.* — ข้อมูลทั้งหมดของจังหวัดเลย (9 tables)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ขยายรองรับจังหวัดอื่นได้โดยเพิ่ม schema ใหม่</a:t>
            </a:r>
          </a:p>
          <a:p>
            <a:pPr algn="l"/>
            <a:r>
              <a:rPr sz="6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300" b="1" i="0">
                <a:solidFill>
                  <a:srgbClr val="00E5C8"/>
                </a:solidFill>
                <a:latin typeface="Sarabun"/>
              </a:rPr>
              <a:t>Partitioning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ตาราง assessments แบ่ง Range Partition ตามปี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Query ข้อมูลปีเดียวเร็วกว่า Full Table Scan มาก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ต้องเพิ่ม Partition ใหม่ทุกปี (Alembic migration)</a:t>
            </a:r>
          </a:p>
          <a:p>
            <a:pPr algn="l"/>
            <a:r>
              <a:rPr sz="600" b="0" i="0">
                <a:solidFill>
                  <a:srgbClr val="E8F0FE"/>
                </a:solidFill>
                <a:latin typeface="Sarabun"/>
              </a:rPr>
              <a:t> </a:t>
            </a:r>
          </a:p>
          <a:p>
            <a:pPr algn="l"/>
            <a:r>
              <a:rPr sz="1300" b="1" i="0">
                <a:solidFill>
                  <a:srgbClr val="00E5C8"/>
                </a:solidFill>
                <a:latin typeface="Sarabun"/>
              </a:rPr>
              <a:t>Connection Pool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PgBouncer ในโหมด Transaction</a:t>
            </a:r>
          </a:p>
          <a:p>
            <a:pPr algn="l"/>
            <a:r>
              <a:rPr sz="1100" b="0" i="0">
                <a:solidFill>
                  <a:srgbClr val="E8F0FE"/>
                </a:solidFill>
                <a:latin typeface="Sarabun"/>
              </a:rPr>
              <a:t>• รองรับ concurrent users จำนวนมากโดยไม่ล้น DB pool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05840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005840"/>
            <a:ext cx="45720" cy="4572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0424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arabun"/>
              </a:rPr>
              <a:t>affiliations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243584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สังกัดการศึกษา (จังหวัด/สพท.)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527047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1527047"/>
            <a:ext cx="45720" cy="457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63623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90FF"/>
                </a:solidFill>
                <a:latin typeface="Sarabun"/>
              </a:rPr>
              <a:t>districts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764791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อำเภอ — เชื่อมกับ affiliations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2048254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2048254"/>
            <a:ext cx="4572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08483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Sarabun"/>
              </a:rPr>
              <a:t>schools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285998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โรงเรียน — เชื่อมกับ districts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2569461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569461"/>
            <a:ext cx="45720" cy="4572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2606037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Sarabun"/>
              </a:rPr>
              <a:t>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807205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นักเรียน — National ID (AES-256)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8192" y="3090668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08192" y="3090668"/>
            <a:ext cx="45720" cy="4572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31272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C040"/>
                </a:solidFill>
                <a:latin typeface="Sarabun"/>
              </a:rPr>
              <a:t>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328412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Admin/Teacher accounts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3611875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08192" y="3611875"/>
            <a:ext cx="457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3648451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  <a:latin typeface="Sarabun"/>
              </a:rPr>
              <a:t>assessments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849619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ผลประเมิน — partitioned by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4133082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4133082"/>
            <a:ext cx="457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416965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Sarabun"/>
              </a:rPr>
              <a:t>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4370826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การแจ้งเตือนความเสี่ยง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4654289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08192" y="4654289"/>
            <a:ext cx="45720" cy="457200"/>
          </a:xfrm>
          <a:prstGeom prst="rect">
            <a:avLst/>
          </a:prstGeom>
          <a:solidFill>
            <a:srgbClr val="8FA3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4690865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FA3BC"/>
                </a:solidFill>
                <a:latin typeface="Sarabun"/>
              </a:rPr>
              <a:t>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4892033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ประวัติการส่งแจ้งเตือน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5175496"/>
            <a:ext cx="5534863" cy="457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08192" y="5175496"/>
            <a:ext cx="45720" cy="4572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52120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Sarabun"/>
              </a:rPr>
              <a:t>audit_logs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5413240"/>
            <a:ext cx="53519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FA3BC"/>
                </a:solidFill>
                <a:latin typeface="Sarabun"/>
              </a:rPr>
              <a:t>PDPA Audit — ทุกการเข้าถึง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SECTION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78608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arabun"/>
              </a:rPr>
              <a:t>แผนดำเนินการและ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3BC"/>
                </a:solidFill>
                <a:latin typeface="Sarabun"/>
              </a:rPr>
              <a:t>Roadmap  ·  สิ่งที่ต้องการ  ·  ตัวชี้วัดความสำเร็จ  ·  ประโยชน์ที่ได้รับ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Roadmap — แผนดำเนินการ 4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แผนงาน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18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87552"/>
            <a:ext cx="2651760" cy="5029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87552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097280"/>
            <a:ext cx="2432304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0972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CC71"/>
                </a:solidFill>
                <a:latin typeface="Sarabun"/>
              </a:rPr>
              <a:t>✓ เสร็จแล้ว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Phase 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64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ระบบหลัก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Backend API ครบทุก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786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ฐานข้อมูล + Multi-tenant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Authentication: OTP + 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3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แบบประเมิน 3 ชุด (ST-5/PHQ-A/CDI)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856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Admin Dashboard ทุกหน้า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879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Import ข้อมูลนักเรียน (CSV)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Frontend ทุกหน้า + Offline PWA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4992" y="987552"/>
            <a:ext cx="2651760" cy="5029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987552"/>
            <a:ext cx="265176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1097280"/>
            <a:ext cx="2432304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0972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C9B1"/>
                </a:solidFill>
                <a:latin typeface="Sarabun"/>
              </a:rPr>
              <a:t>⏳ กำลังพัฒนา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1764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Alerts &amp;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2176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In-App Alert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5786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รายงาน PDF/Excel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9809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Alert Dashboard + Status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383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FilterBar &amp; Advanced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37856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Recommendation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41879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System integration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45902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UAT กับผู้ใช้งานจริง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1344" y="987552"/>
            <a:ext cx="2651760" cy="5029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1344" y="987552"/>
            <a:ext cx="265176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91072" y="1097280"/>
            <a:ext cx="2432304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10972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90FF"/>
                </a:solidFill>
                <a:latin typeface="Sarabun"/>
              </a:rPr>
              <a:t>📋 ถัดไป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8504" y="1764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Pilot &amp; Roll-out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2176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ทดสอบโรงเรียนนำร่อง 3-5 แห่ง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25786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เก็บ Feedback จากครูแนะแนว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4" y="29809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ปรับปรุงระบบตาม feedback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3383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อบรมครูแนะแนวทั่วจังหวัด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37856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Import นักเรียนทั้งจังหวัด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41879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เปิดใช้งานจริง (Go-live)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4" y="45902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Monitor 30 วันแรก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7696" y="987552"/>
            <a:ext cx="2651760" cy="50292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97696" y="987552"/>
            <a:ext cx="2651760" cy="457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07424" y="1097280"/>
            <a:ext cx="2432304" cy="274320"/>
          </a:xfrm>
          <a:prstGeom prst="rect">
            <a:avLst/>
          </a:prstGeom>
          <a:solidFill>
            <a:srgbClr val="08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10972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C040"/>
                </a:solidFill>
                <a:latin typeface="Sarabun"/>
              </a:rPr>
              <a:t>🔮 อนาคต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34856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Phase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4856" y="1764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rabun"/>
              </a:rPr>
              <a:t>Expansion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4856" y="21762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Multi-province (จังหวัดอื่น)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856" y="25786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AI Recommendations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34856" y="2980944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Telehealth integration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4856" y="33832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Mobile App native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34856" y="378561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API เชื่อมระบบสาธารณสุข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34856" y="41879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BI Dashboard ระดับประเทศ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34856" y="45902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Predictive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สิ่งที่ต้องการเพื่อเริ่มใช้งานจริง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ความต้องการ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19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50292" cy="2331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ข้อมูลนักเรียน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99616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รายชื่อนักเรียนทุกโรงเรียน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รหัสนักเรียน, เลขบัตรประชาชน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วันเกิด, ชั้นเรียน, โรงเรียน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ระบบรองรับ Import CSV จาก Excel ได้เลย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005840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005840"/>
            <a:ext cx="50292" cy="2331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บัญชีผู้ใช้งาน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499616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สร้างบัญชีสำหรับผู้ดูแลระบบแต่ละระดับ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School Admin: ครูแนะแนวแต่ละโรงเรียน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Commission Admin: ศึกษานิเทศก์/ผอ.เขต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Super Admin: ผู้บริหารจังหวัด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005840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005840"/>
            <a:ext cx="50292" cy="2331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เปิดรอบสำรวจ (Survey Round)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499616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Admin ต้องสร้าง Survey Round ก่อน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นักเรียนจึงจะเห็นและทำแบบประเมินได้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กำหนดปีการศึกษา + ภาคเรียน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เปิด/ปิด ได้ตลอดเวลา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56432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56432"/>
            <a:ext cx="50292" cy="23317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753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57530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ทีมทดสอบนำร่อง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950208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ผู้ร่วมทดสอบช่วง Pilot 2-4 สัปดาห์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ครูแนะแนว 1-2 คน/โรงเรียน (3-5 โรง)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นักเรียกลุ่มทดสอบ 20-50 คน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ผู้บริหาร UAT และให้ Feedback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456432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3456432"/>
            <a:ext cx="50292" cy="2331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5753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7530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Credentials &amp;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950208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ข้อมูลสำหรับตั้งค่าและ Deploy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Encryption Key ยาว 32 ตัวอักษร (AES-256)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Server หรือ Cloud (Docker Compose ready)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Domain + SSL Certificate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3456432"/>
            <a:ext cx="3611880" cy="233172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456432"/>
            <a:ext cx="50292" cy="2331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357530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3575304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แผนอบรมผู้ใช้งาน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950208"/>
            <a:ext cx="335584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เตรียมผู้ใช้งานก่อน Roll-out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อบรมครูแนะแนว: Dashboard + Alert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อบรมผู้บริหาร: รายงานและ Trend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• เอกสาร User Manual ภาษาไทย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ตัวชี้วัดความสำเร็จ (Key Performance Indicators)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20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8"/>
                </a:solidFill>
                <a:latin typeface="Sarabun"/>
              </a:rPr>
              <a:t>📊  KPI ด้านการใช้งาน (Operational)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45720" cy="7132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27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ความครอบคลุม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4904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B1"/>
                </a:solidFill>
                <a:latin typeface="Sarabun"/>
              </a:rPr>
              <a:t>≥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นักเรียนทำแบบประเมินครบภายใน 30 วันแรก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58568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58568"/>
            <a:ext cx="45720" cy="7132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225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Alert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2860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90FF"/>
                </a:solidFill>
                <a:latin typeface="Sarabun"/>
              </a:rPr>
              <a:t>&lt; 5 นาที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เวลาแจ้งเตือนถึงครูนับจากที่นักเรียนส่งผล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54096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45720" cy="7132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118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System Uptime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0815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  <a:latin typeface="Sarabun"/>
              </a:rPr>
              <a:t>≥ 99.5%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4381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ระบบพร้อมใช้งานตลอดเวลาทำการโรงเรียน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49624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49624"/>
            <a:ext cx="45720" cy="7132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913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Alert 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8770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  <a:latin typeface="Sarabun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2336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ทุก Critical Alert ต้องมีการดำเนินการ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45152"/>
            <a:ext cx="5486400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645152"/>
            <a:ext cx="45720" cy="7132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709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Data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6725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9B6"/>
                </a:solidFill>
                <a:latin typeface="Sarabun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292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ผลการประเมินตรงกับ scoring algorithm สากล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024128"/>
            <a:ext cx="5242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8"/>
                </a:solidFill>
                <a:latin typeface="Sarabun"/>
              </a:rPr>
              <a:t>🎯  KPI ด้านผลลัพธ์ (Outcome)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463040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1463040"/>
            <a:ext cx="45720" cy="7132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1527048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Early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1847088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พบเคสวิกฤตก่อนบานปลาย — ลดผลกระทบระยะยาว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258568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258568"/>
            <a:ext cx="45720" cy="7132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322576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ลดเวลาประเมิน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2642616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จากหลายวัน → ทันที — ครูมีเวลาดูแลมากขึ้น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054096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054096"/>
            <a:ext cx="45720" cy="7132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3118104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Data-driven Policy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3438144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ผู้บริหารตัดสินใจจากข้อมูลจริง ไม่ใช่ความรู้สึก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849624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3849624"/>
            <a:ext cx="45720" cy="71323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65392" y="3913632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PDPA Compliant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4233672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ผ่านการตรวจสอบ 100% ลดความเสี่ยงทางกฎหมาย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645152"/>
            <a:ext cx="5242255" cy="71323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4645152"/>
            <a:ext cx="45720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4709160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ครอบคลุมห่างไกล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5029200"/>
            <a:ext cx="5013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โรงเรียนพื้นที่ห่างไกล Offline PWA ยังใช้ได้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arabun"/>
              </a:rPr>
              <a:t>ประโยชน์ที่จังหวัดเลยได้รับ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82296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ประโยชน์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FA3BC"/>
                </a:solidFill>
                <a:latin typeface="Sarabun"/>
              </a:rPr>
              <a:t>21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50292" cy="2286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Sarabun"/>
              </a:rPr>
              <a:t>ลดเวลาประเมิน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99616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ประเมิน 100K นักเรียนจากหลายเดือน → ไม่กี่สัปดาห์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ผลรู้ทันที ไม่ต้องรอรวม Excel หรือนับมือ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005840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005840"/>
            <a:ext cx="50292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Sarabun"/>
              </a:rPr>
              <a:t>เห็นภาพจังหวัด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499616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ผู้บริหารเห็น Trend รายอำเภอ/โรงเรียน Real-time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เป็นครั้งแรกของจังหวัด — ตัดสินใจได้ทันที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005840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005840"/>
            <a:ext cx="50292" cy="2286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124712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  <a:latin typeface="Sarabun"/>
              </a:rPr>
              <a:t>ไม่พลาดวิกฤต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499616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แจ้งเตือนอัตโนมัติทันที ไม่มีช่องว่างในการดูแล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ลดความเสี่ยงที่จะพลาดเคสที่ต้องการความช่วยเหลือ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01568"/>
            <a:ext cx="50292" cy="22860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  <a:latin typeface="Sarabun"/>
              </a:rPr>
              <a:t>ถูกกฎหมาย PDPA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จัดเก็บและประมวลผลข้อมูลถูกต้องตามกฎหมาย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ลดความเสี่ยงทางกฎหมาย เบี้ยปรับสูงสุด 5 ล้านบาท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3401568"/>
            <a:ext cx="50292" cy="2286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Sarabun"/>
              </a:rPr>
              <a:t>ข้อมูลเชิงนโยบาย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รายงานประจำปีและ Trend ช่วยวางแผนงบประมาณ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อ้างอิงในรายงานระดับจังหวัดและส่วนกลาง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74736" y="3401568"/>
            <a:ext cx="3611880" cy="2286000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4736" y="3401568"/>
            <a:ext cx="5029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3520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E"/>
                </a:solidFill>
                <a:latin typeface="Sarabun"/>
              </a:rPr>
              <a:t>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2" y="352044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arabun"/>
              </a:rPr>
              <a:t>ครอบคลุมทุกพื้นที่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3895344"/>
            <a:ext cx="335584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โรงเรียนห่างไกลไม่มีเน็ตก็ทำแบบประเมินได้</a:t>
            </a:r>
          </a:p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Offline PWA — Sync อัตโนมัติเมื่อกลับออนไลน์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88775" y="0"/>
            <a:ext cx="502920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24247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FA3BC"/>
                </a:solidFill>
                <a:latin typeface="Sarabun"/>
              </a:rPr>
              <a:t>ขอบคุณ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1810512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0E5C8"/>
                </a:solidFill>
                <a:latin typeface="Sarabun"/>
              </a:rPr>
              <a:t>LEMCS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647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F0FE"/>
                </a:solidFill>
                <a:latin typeface="Sarabun"/>
              </a:rPr>
              <a:t>ระบบดิจิทัลประเมินสุขภาพจิตนักเรียน  อนุบาล–มัธยมปลาย  จังหวัดเลย  ประเทศไทย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0967" y="4114800"/>
            <a:ext cx="4114800" cy="80467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40967" y="4114800"/>
            <a:ext cx="4114800" cy="457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3847" y="418795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🌐  เว็บไซต์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847" y="4434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8"/>
                </a:solidFill>
                <a:latin typeface="Sarabun"/>
              </a:rPr>
              <a:t>lemcs.loeitech.ac.th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35927" y="4114800"/>
            <a:ext cx="4114800" cy="804672"/>
          </a:xfrm>
          <a:prstGeom prst="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35927" y="4114800"/>
            <a:ext cx="4114800" cy="45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8807" y="418795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FA3BC"/>
                </a:solidFill>
                <a:latin typeface="Sarabun"/>
              </a:rPr>
              <a:t>🔧  API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8807" y="4434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  <a:latin typeface="Sarabun"/>
              </a:rPr>
              <a:t>api-lemcs.loeitech.ac.th/docs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647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FA3BC"/>
                </a:solidFill>
                <a:latin typeface="Sarabun"/>
              </a:rPr>
              <a:t>พัฒนาเพื่อนักเรียนจังหวัดเลยกว่า 100,000 คน  ·  พ.ศ. 2568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