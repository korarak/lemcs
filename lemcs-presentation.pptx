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256032" cy="68580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66928"/>
            <a:ext cx="10515600" cy="384048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6217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Sarabun"/>
              </a:rPr>
              <a:t>LOEI EDUCATIONAL MINDCARE SYSTEM  ·  ระบบดิจิทัลประเมินสุขภาพจิตนักเรียน จังหวัดเลย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0E5C8"/>
                </a:solidFill>
                <a:latin typeface="Sarabun"/>
              </a:rPr>
              <a:t>LEMCS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0FE"/>
                </a:solidFill>
                <a:latin typeface="Sarabun"/>
              </a:rPr>
              <a:t>ระบบดิจิทัลประเมินสุขภาพจิตนักเรียน  K-12  จังหวัดเลย  ประเทศไทย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015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Sarabun"/>
              </a:rPr>
              <a:t>มาตรฐานสากล 3 แบบประเมิน  ·  Real-time Dashboard  ·  Crisis Alert อัตโนมัติ  ·  PDPA Compliant  ·  Offline PWA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100,000+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นักเรียนในระบบ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3592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93592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แบบประเมินมาตรฐาน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8464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ระดับสิทธิ์ RBAC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Crisis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8251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Executive &amp; Technical Overview  ·  พ.ศ.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ปัญหาที่เราพบ — ที่มาของโครงการ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ที่มา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06424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สถานการณ์สุขภาพจิตเด็กและเยาวชน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1 ใน 7 เด็กทั่วโลกมีปัญหาสุขภาพจิต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เยาวชนไทยอายุ 10-19 ปี มีความเสี่ยงกว่า 15%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ส่วนใหญ่ไม่ได้รับการตรวจคัดกรองหรือช่วยเหลือ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การพบล่าช้า → ผลกระทบระยะยาวรุนแรง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987552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987552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1106424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ปัญหาในโรงเรียนปัจจุบัน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81328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ครูแนะแนว 1 คน รับผิดชอบนักเรียนหลายร้อยคน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ระบบกระดาษ: ช้า ข้อมูลกระจัดกระจาย ค้นหายาก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ไม่มีระบบ Early Warning ระดับจังหวัด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รอผลการประเมินแต่ละรอบใช้เวลาหลายวัน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01568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52044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ความเสี่ยงที่อาจพลาด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95344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ไม่มีระบบแจ้งเตือนกรณีวิกฤต (suicide risk)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ผู้บริหารไม่เห็นภาพรวมระดับอำเภอ-จังหวัด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ข้อมูลประวัติ ติดตามแนวโน้มไม่ได้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นักเรียนในพื้นที่ห่างไกลถูกมองข้ามง่าย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401568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352044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ข้อกำหนด PDPA ที่ต้องปฏิบัติตาม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95344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ข้อมูลสุขภาพจิต = ข้อมูลอ่อนไหว (Sensitive Data)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พ.ร.บ. PDPA บังคับเข้ารหัสและควบคุมการเข้าถึง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ระบบกระดาษไม่สามารถรองรับมาตรฐานได้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ต้องมี Audit Log ทุกการเข้าถึงข้อมูลนักเรียน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LEMCS คืออะไร?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ภาพรวมระบบ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C8"/>
                </a:solidFill>
                <a:latin typeface="Sarabun"/>
              </a:rPr>
              <a:t>LEMCS  (Loei Educational MindCare System)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0" i="0">
                <a:solidFill>
                  <a:srgbClr val="E8F0FE"/>
                </a:solidFill>
                <a:latin typeface="Sarabun"/>
              </a:rPr>
              <a:t>คือ แพลตฟอร์มดิจิทัล สำหรับคัดกรองและติดตามสุขภาพจิต</a:t>
            </a:r>
          </a:p>
          <a:p>
            <a:pPr algn="l"/>
            <a:r>
              <a:rPr sz="1300" b="0" i="0">
                <a:solidFill>
                  <a:srgbClr val="E8F0FE"/>
                </a:solidFill>
                <a:latin typeface="Sarabun"/>
              </a:rPr>
              <a:t>นักเรียนระดับ K-12 ของจังหวัดเลยแบบครบวงจร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ออกแบบให้ "นักเรียนทำแบบประเมินเองได้" บนมือถือ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ขณะที่ครูและผู้บริหารเห็นผลแบบ Real-time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พร้อมระบบแจ้งเตือนอัตโนมัติทันทีที่พบความเสี่ยง</a:t>
            </a:r>
          </a:p>
          <a:p>
            <a:pPr algn="l"/>
            <a:r>
              <a:rPr sz="8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คุณสมบัติสำคัญ: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Web Application — ไม่ต้องติดตั้งแอปเพิ่มเติม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Mobile-first — รองรับมือถือทุกรุ่น ขนาด 375px+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Offline PWA — ใช้งานได้แม้ไม่มีอินเตอร์เน็ต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PDPA Compliant — เข้ารหัส AES-256 ทุก record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Multi-tenant — รองรับขยายไปหลายจังหวัด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00584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005840"/>
            <a:ext cx="50292" cy="13258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112471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กลุ่มเป้าหมาย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49961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 K-12 ทั่วจังหวัดเลย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กว่า 100,000 คน ทุกโรงเรียน ทุกอำเภอ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42316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2423160"/>
            <a:ext cx="50292" cy="1325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25420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54203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ขอบเขตให้บริการ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91693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ครอบคลุมทุกโรงเรียนในจังหวัดเลย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รองรับขยายไปจังหวัดอื่น (Multi-tenant)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384048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3840480"/>
            <a:ext cx="50292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39593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395935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ช่องทางใช้งาน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33425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เว็บเบราว์เซอร์ บนมือถือ แท็บเล็ต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หรือคอมพิวเตอร์ — ไม่ต้องติดตั้งแอป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525780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5257800"/>
            <a:ext cx="50292" cy="1325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9752" y="53766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🏗️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537667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พร้อมใช้งาน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575157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Production URL: lemcs.loeitech.ac.th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API: api-lemcs.loeitech.ac.th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ผู้ใช้งานและระดับสิทธิ์ (RBAC) — 5 ระดับ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ผู้ใช้งาน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4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24128"/>
          <a:ext cx="117043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4846320"/>
                <a:gridCol w="1828800"/>
                <a:gridCol w="118872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ผู้ใช้งาน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บทบาท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สิ่งที่ทำได้ในระบบ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ขอบเขตข้อมูล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Session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🧒 นักเรียน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Student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ทำแบบประเมิน · ดูผลและคำแนะนำ · ดูประวัติตัวเอง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เฉพาะตนเอง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60 นาที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👩‍🏫 ครูแนะแนว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School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ติดตามนักเรียน · รับ Alert · Dashboard โรงเรียน · Export 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ในโรงเรียนตัวเอง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🏛️ ศึกษานิเทศก์/ผอ.เขต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Commission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เปรียบเทียบข้ามโรงเรียน · แนวโน้มระดับอำเภอ · รายงาน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ในอำเภอตัวเอง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🏢 ผู้บริหารจังหวัด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Super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ภาพรวมทั้งจังหวัด · วิเคราะห์ Trend · Import นักเรียน · จัดการผู้ใช้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ทั้งจังหวัด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⚙️ 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ทุกอย่าง + Audit Log + System Config + Multi-tenant mgmt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 tenant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SECTION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เครื่องมือและฟีเจอร์หลัก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แบบประเมินมาตรฐานสากล  ·  Student Journey  ·  Crisis Alert  ·  Dashboard  ·  Mobile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แบบประเมินมาตรฐานสากล 3 ชุด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เครื่องมือประเมิน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6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3611880" cy="5029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C040"/>
                </a:solidFill>
                <a:latin typeface="Sarabun"/>
              </a:rPr>
              <a:t>ST-5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วัดระดับความเครียด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15 ปีขึ้นไป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ข้อคำถาม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15 คะแนน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4 ระดับ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ปกติ: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≤ 4 คะแนน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เล็กน้อย: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– 7 คะแนน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ปานกลาง: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8 – 9 คะแนน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รุนแรง: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10 คะแนน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408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ไม่มี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มาตรฐาน: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1408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กรมสุขภาพจิต ไทย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987552"/>
            <a:ext cx="3611880" cy="5029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90FF"/>
                </a:solidFill>
                <a:latin typeface="Sarabun"/>
              </a:rPr>
              <a:t>PHQ-A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ภาวะซึมเศร้าวัยรุ่น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4456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11 – 20 ปี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4456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9 หลัก + BQ1/BQ2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456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27 คะแนน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34456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ระดับ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None: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6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Mild: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34456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– 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Moderate: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34456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10 – 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Severe: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34456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15 – 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Very Severe: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6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34456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Q9 ≥ 1 หรือ BQ1/BQ2 = true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4736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74736" y="987552"/>
            <a:ext cx="3611880" cy="502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9328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9328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Sarabun"/>
              </a:rPr>
              <a:t>CDI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ภาวะซึมเศร้าเด็ก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9328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8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7504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7 – 17 ปี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47504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27 ข้อ (ก/ข/ค)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328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47504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54 คะแนน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8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47504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2 ระดับ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8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ปกติ: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47504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14 คะแนน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8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มีนัยทางคลินิก: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47504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15 → แจ้งเตือน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8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Group A: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47504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ก=0, ข=1, ค=2 (ปกติ)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8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Group B: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47504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ก=2, ข=1, ค=0 (invert)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8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7504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ไม่มี — ≥15 triggers alert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8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มาตรฐาน: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47504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Maria Kovacs 1985, อายุ 7-17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062472"/>
            <a:ext cx="11094415" cy="32004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610819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Sarabun"/>
              </a:rPr>
              <a:t>💡  ระบบเลือกแบบประเมินอัตโนมัติตามอายุ  |  15-17 ปี → ครบ 3 ชุด  |  11-14 ปี → CDI + PHQ-A  |  7-10 ปี → CDI เท่านั้น  |  &lt;7 ปี หรือไม่มีวันเกิด → ไม่แสดง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เส้นทางการใช้งาน — มุมมองนักเรียน (Student Journey)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การทำงาน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7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719072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B1"/>
                </a:solidFill>
                <a:latin typeface="Sarabun"/>
              </a:rPr>
              <a:t>เข้าสู่ระบบ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รหัสนักเรียน
+ วันเกิด
+ OTP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arabun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2" y="1005840"/>
            <a:ext cx="171907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90FF"/>
                </a:solidFill>
                <a:latin typeface="Sarabun"/>
              </a:rPr>
              <a:t>ยินยอม PDPA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บังคับก่อนทำ
แบบประเมิน
ครั้งแรก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arabun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2544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005840"/>
            <a:ext cx="1719072" cy="45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C040"/>
                </a:solidFill>
                <a:latin typeface="Sarabun"/>
              </a:rPr>
              <a:t>ทำแบบประเมิน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ระบบเลือกชุด
ให้อัตโนมัติ
ตามอายุ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arabun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4496" y="1005840"/>
            <a:ext cx="1719072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B6"/>
                </a:solidFill>
                <a:latin typeface="Sarabun"/>
              </a:rPr>
              <a:t>ประมวลผล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คะแนน + ระดับ
ความเสี่ยง
ทันที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arabun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6448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6448" y="1005840"/>
            <a:ext cx="1719072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Sarabun"/>
              </a:rPr>
              <a:t>ดูผลลัพธ์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ผล + คำแนะนำ
+ ประวัติ
ย้อนหลัง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1691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arabun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1005840"/>
            <a:ext cx="1719072" cy="192024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0" y="1005840"/>
            <a:ext cx="1719072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107899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0FE"/>
                </a:solidFill>
                <a:latin typeface="Sarabun"/>
              </a:rPr>
              <a:t>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15087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  <a:latin typeface="Sarabun"/>
              </a:rPr>
              <a:t>Crisis 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1847088"/>
            <a:ext cx="1719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แจ้งครู/ผู้บริหาร
สายด่วน 1323
บนหน้าจอ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108960"/>
            <a:ext cx="5394960" cy="3474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108960"/>
            <a:ext cx="50292" cy="3474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Sarabun"/>
              </a:rPr>
              <a:t>📊  มุมมองครู / ผู้บริหาร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65760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Real-time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390448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เห็นผลทันทีที่นักเรียนส่งแบบประเมิน จัดลำดับตามระดับความเสี่ยง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429768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การแจ้งเตือน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454456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รับ LINE + Email ทันทีที่พบเคสวิกฤต พร้อมข้อมูลนักเรียน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493776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Export รายงาน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518464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PDF / Excel ตามช่วงเวลา โรงเรียน หรืออำเภอที่เลือก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108960"/>
            <a:ext cx="5394960" cy="3474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44768" y="3108960"/>
            <a:ext cx="50292" cy="3474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Sarabun"/>
              </a:rPr>
              <a:t>📱  มุมมองนักเรียน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65760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ผลการประเมิน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90448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เห็นคะแนน ระดับความเสี่ยง และคำแนะนำที่เหมาะสม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29768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ประวัติย้อนหลัง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54456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ติดตามแนวโน้มสุขภาพจิตของตัวเองในแต่ละรอบ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937760"/>
            <a:ext cx="5138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Offline Mode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184648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ทำแบบประเมินได้แม้ไม่มีอินเตอร์เน็ต ระบบ Sync อัตโนมัติ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Crisis Alert System — ไม่พลาดทุกกรณีวิกฤต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ระบบแจ้งเตือน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  <a:latin typeface="Sarabun"/>
              </a:rPr>
              <a:t>ตรวจจับความเสี่ยงทันทีหลังนักเรียนส่งแบบประเมิน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เงื่อนไขที่ trigger Crisis Alert: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PHQ-A ข้อ 9 (Q9) ≥ 1 คะแนน (คิดเรื่องทำร้ายตัวเอง)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PHQ-A Bonus Q1 หรือ BQ2 = true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CDI คะแนนรวม ≥ 15 (มีนัยสำคัญทางคลินิก)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กระบวนการแจ้งเตือน (Synchronous — ไม่ผ่านคิว):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329184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638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ตรวจพบ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383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สร้าง Critical Alert record ทันที
พร้อม timestamp และข้อมูลนักเรียน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8496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LINE 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ส่งข้อความแจ้งเตือนเข้ากลุ่มไลน์
ครูแนะแนว และผู้บริหารทุกระดับ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5354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Email SMTP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754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Backup notification กรณี LINE ล่ม
ส่งรายละเอียดพร้อมลิงก์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329184" cy="32918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2212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In-App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440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แจ้งเตือนภายในระบบ ติดตามสถานะ
"รอดำเนินการ / กำลังดูแล / เสร็จ"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9070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หน้าจอนักเรียน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6126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แสดงสายด่วน 1323 พร้อมคำแนะนำ
ขอความช่วยเหลือทันที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1005840"/>
            <a:ext cx="4894783" cy="13533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48272" y="1005840"/>
            <a:ext cx="50292" cy="13533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1124712"/>
            <a:ext cx="4245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LINE Notify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1499616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ส่งถึงกลุ่มไลน์ครูแนะแนวและผู้บริหาร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ทันทีที่พบความเสี่ยง ไม่ต้องเช็กหน้าเว็บ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8272" y="2450592"/>
            <a:ext cx="4894783" cy="13533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48272" y="2450592"/>
            <a:ext cx="50292" cy="135331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5694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2569464"/>
            <a:ext cx="4245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Email SMTP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2944368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Backup สำคัญ — หาก LINE ล่ม ยังมี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Email รับประกันไม่พลาด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8272" y="3895344"/>
            <a:ext cx="4894783" cy="13533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48272" y="3895344"/>
            <a:ext cx="50292" cy="135331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2864" y="40142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4014216"/>
            <a:ext cx="4245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In-App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2864" y="4389120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ติดตามสถานะ Alert พร้อมผู้รับผิดชอบ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และประวัติการดำเนินการ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48272" y="5340096"/>
            <a:ext cx="4894783" cy="13533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48272" y="5340096"/>
            <a:ext cx="50292" cy="13533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12864" y="5458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33488" y="5458968"/>
            <a:ext cx="4245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สายด่วน 1323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5833872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แสดงบนหน้าจอนักเรียนทันที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กรมสุขภาพจิต — 24 ชั่วโมง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Dashboard &amp; Analytics — ข้อมูลเชิงลึกแบบ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รายงาน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9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0292" cy="22128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2471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Overview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ภาพรวมจำนวนการประเมิน สถิติแยกแบบทดสอบ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แนวโน้มรายสัปดาห์ เดือน และปี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00584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005840"/>
            <a:ext cx="50292" cy="22128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12471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School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49961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เปรียบเทียบผลระหว่างโรงเรียน อำเภอ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หาพื้นที่ที่ต้องการความช่วยเหลือก่อน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00584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005840"/>
            <a:ext cx="50292" cy="22128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12471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Trend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49961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วิเคราะห์แนวโน้มระยะยาว ระบุ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ช่วงเวลา/ฤดูกาลที่มีความเสี่ยงสูง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50292" cy="22128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4564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45643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Export PDF /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3133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ส่งออกรายงานตามช่วงเวลาและกลุ่ม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นักเรียนที่เลือก พร้อม chart สรุป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333756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3337560"/>
            <a:ext cx="50292" cy="22128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4564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345643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Alert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83133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รายการ Alert ทั้งหมด สถานะ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ผู้รับผิดชอบ และประวัติดำเนินการ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3337560"/>
            <a:ext cx="3657600" cy="22128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66176" y="3337560"/>
            <a:ext cx="50292" cy="22128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4564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456432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Student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3831336"/>
            <a:ext cx="3401568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ประวัติการประเมินรายบุคคล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แนวโน้ม บันทึกการดูแล ติดตามผล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Mobile PWA — ใช้งานได้ทุกที่ แม้ไม่มีอินเตอร์เน็ต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Mobile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C8"/>
                </a:solidFill>
                <a:latin typeface="Sarabun"/>
              </a:rPr>
              <a:t>Progressive Web App (PWA)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200" b="0" i="0">
                <a:solidFill>
                  <a:srgbClr val="E8F0FE"/>
                </a:solidFill>
                <a:latin typeface="Sarabun"/>
              </a:rPr>
              <a:t>ไม่ต้องดาวน์โหลดจาก App Store — เปิดเว็บแล้วใช้ได้ทันที</a:t>
            </a:r>
          </a:p>
          <a:p>
            <a:pPr algn="l"/>
            <a:r>
              <a:rPr sz="1200" b="0" i="0">
                <a:solidFill>
                  <a:srgbClr val="E8F0FE"/>
                </a:solidFill>
                <a:latin typeface="Sarabun"/>
              </a:rPr>
              <a:t>เพิ่มไอคอนหน้า Home Screen ได้เหมือนแอปทั่วไป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ฟีเจอร์ Offline: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Service Worker cache คำถาม 3 แบบประเมินไว้ในเครื่อง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ทำแบบประเมินได้แม้สัญญาณขาด หรืออยู่ในโรงเรียนห่างไกล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ระบบ Sync ข้อมูลอัตโนมัติเมื่อกลับออนไลน์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การรองรับอุปกรณ์: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Mobile-first design — รองรับหน้าจอ 375px ขึ้นไป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ทดสอบบน Android, iOS (Chrome, Safari)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Font ภาษาไทย: Noto Sans Thai / Sarabun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005840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07808" y="1005840"/>
            <a:ext cx="50292" cy="12984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1124712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Mobile-first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99616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หน้าจอ 375px+ ใช้งานง่าย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บนมือถือทุกรุ่น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2395728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2395728"/>
            <a:ext cx="50292" cy="12984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✈️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514600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Offline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9504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ทำแบบประเมินได้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แม้ไม่มีอินเตอร์เน็ต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3785616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7808" y="3785616"/>
            <a:ext cx="50292" cy="12984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9044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904488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Fast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79392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Cached assets โหลดเร็ว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แม้เน็ตช้า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5175504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07808" y="5175504"/>
            <a:ext cx="50292" cy="12984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52943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5294376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Auto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669280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Sync อัตโนมัติ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เมื่อกลับออนไลน์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SECTION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ความปลอดภัยและ PDPA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AES-256 Encryption  ·  RBAC 5 ระดับ  ·  Audit Log  ·  OTP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ความปลอดภัยข้อมูลและ PDPA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12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5029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AES-256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เลขบัตรประชาชนเข้ารหัส AES-256 ทุก record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ไม่ปรากฏ plain text ใน DB, URL, หรือ Log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Encryption Key ต้องยาว 32 ตัวอักษร (256-bit)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 crash ทันทีหาก Key ไม่ครบ 32 ตัว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987552"/>
            <a:ext cx="50292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PDPA 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หน้า Consent บังคับก่อนทำแบบประเมินครั้งแรก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บันทึกการยินยอม + Timestamp + IP address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นักเรียนขอถอนความยินยอมได้ตามสิทธิ์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ไม่มี PII ในรูปภาพ URL หรือ query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987552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บันทึกทุกการเข้าถึงข้อมูลนักเรียน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เก็บ user_id + timestamp + action + resource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รองรับการตรวจสอบตาม PDPA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ค้นหาและ Export ได้โดย System 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Session &amp;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นักเรียน: JWT หมดอายุ 60 นาที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Admin ทุกระดับ: JWT หมดอายุ 8 ชั่วโมง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ยืนยัน OTP ทาง SMS ทุกครั้งที่ Login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Rate limit 100 req/นาที ต่อ IP ผ่าน 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50292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No PII in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ไม่มีชื่อ เลขบัตร หรือข้อมูลส่วนตัวใน URL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ทุก endpoint ใช้ UUID ไม่ใช่ชื่อหรือ ID จริง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ป้องกันการ expose ผ่าน Browser history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หรือ Server access 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Backup &amp;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pg_dump อัตโนมัติทุกวันเวลา 02:00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ส่งไป MinIO Object Storage (encrypted)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 Point-in-time recovery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ตรวจสอบ Backup integrity อัตโนมัติ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Role-Based Access Control (RBAC) — ระดับสิทธิ์และขอบเขตข้อมูล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13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24128"/>
          <a:ext cx="109728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3200400"/>
                <a:gridCol w="2560320"/>
                <a:gridCol w="1828800"/>
              </a:tblGrid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บทบาท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Scope ข้อมูล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อ่านได้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เขียน/แก้ไข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ไม่สามารถ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🧒 Student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ผลตัวเอง, ประวัติ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ทำแบบประเมิน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ดูคนอื่น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👩‍🏫 School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โรงเรียนตัวเอง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นักเรียนทุกคนในโรงเรียน, Alerts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ดูแล Alert, Export 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ข้ามโรงเรียน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🏛️ Commission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ระดับอำเภอ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ทุกโรงเรียนในอำเภอ, รายงานรวม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Export รายงาน, ดู Trend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ข้ามอำเภอ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🏢 Super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ทั้งจังหวัด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ทุกโรงเรียน, ทุก Alert, ทุกรายงาน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จัดการผู้ใช้, Import CSV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 tenant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⚙️ 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 tenant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ทุกอย่าง + Audit Log + System Config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จัดการ tenant, ตั้งค่าระบบ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ไม่มี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SECTION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สถาปัตยกรรมและเทคโนโลยี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Next.js 14  ·  FastAPI Python 3.12  ·  PostgreSQL 16  ·  Redis 7  ·  MinIO  ·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สถาปัตยกรรมระบบ (System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เทคโนโลยี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15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24128"/>
            <a:ext cx="50292" cy="1170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155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Sarabun"/>
              </a:rPr>
              <a:t>🖥️  Frontend (ผู้ใช้งานโต้ตอบ)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81328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Next.js 14 App Router  ·  TypeScript  ·  Tailwind CSS + DaisyUI  ·  Chart.js (กราฟ)  ·  SWR (data fetching)  ·  next-pwa (Offline)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0292" cy="1170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7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Sarabun"/>
              </a:rPr>
              <a:t>⚙️  Backend (ประมวลผล /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43200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FastAPI Python 3.12  ·  SQLAlchemy Async (ORM)  ·  Alembic (DB migration)  ·  Celery (background tasks)  ·  JWT + OTP (Auth)  ·  Axios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47872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47872"/>
            <a:ext cx="50292" cy="1170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39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Sarabun"/>
              </a:rPr>
              <a:t>🗄️  Data Layer (จัดเก็บข้อมูล)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PostgreSQL 16 (ฐานข้อมูลหลัก)  ·  PgBouncer (connection pool)  ·  Redis 7 (cache + sessions)  ·  MinIO (object storage, backup)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9744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09744"/>
            <a:ext cx="50292" cy="1170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011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Sarabun"/>
              </a:rPr>
              <a:t>🐳  Infrastructure (ระบบโครงสร้าง)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66944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Docker Compose  ·  Nginx Proxy Manager (reverse proxy + SSL)  ·  Grafana (monitoring)  ·  Portainer (container mgmt)  ·  Daily Backup 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071616"/>
            <a:ext cx="11094415" cy="5029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199632"/>
            <a:ext cx="108383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B1"/>
                </a:solidFill>
                <a:latin typeface="Sarabun"/>
              </a:rPr>
              <a:t>🌐  Production:  Frontend → lemcs.loeitech.ac.th  ·  API → api-lemcs.loeitech.ac.th  ·  Grafana → grafana-lemcs.loeitech.ac.th  ·  MinIO → minio-lemcs.loeitech.ac.th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โครงสร้างฐานข้อมูล — Multi-tenant, 9+2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C8"/>
                </a:solidFill>
                <a:latin typeface="Sarabun"/>
              </a:rPr>
              <a:t>Multi-tenant Architecture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system.* — tenants (registry จังหวัด) + super_admins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loei.* — ข้อมูลทั้งหมดของจังหวัดเลย (9 tables)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ขยายรองรับจังหวัดอื่นได้โดยเพิ่ม schema ใหม่</a:t>
            </a:r>
          </a:p>
          <a:p>
            <a:pPr algn="l"/>
            <a:r>
              <a:rPr sz="6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Partitioning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ตาราง assessments แบ่ง Range Partition ตามปี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Query ข้อมูลปีเดียวเร็วกว่า Full Table Scan มาก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ต้องเพิ่ม Partition ใหม่ทุกปี (Alembic migration)</a:t>
            </a:r>
          </a:p>
          <a:p>
            <a:pPr algn="l"/>
            <a:r>
              <a:rPr sz="6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Connection Pool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PgBouncer ในโหมด Transaction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รองรับ concurrent users จำนวนมากโดยไม่ล้น DB 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05840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005840"/>
            <a:ext cx="45720" cy="457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0424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arabun"/>
              </a:rPr>
              <a:t>affiliations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243584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สังกัดการศึกษา (จังหวัด/สพท.)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527047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527047"/>
            <a:ext cx="4572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Sarabun"/>
              </a:rPr>
              <a:t>districts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64791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อำเภอ — เชื่อมกับ affiliations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2048254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2048254"/>
            <a:ext cx="45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08483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arabun"/>
              </a:rPr>
              <a:t>schools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285998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โรงเรียน — เชื่อมกับ districts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569461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569461"/>
            <a:ext cx="4572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260603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Sarabun"/>
              </a:rPr>
              <a:t>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07205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นักเรียน — National ID (AES-256)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3090668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3090668"/>
            <a:ext cx="4572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1272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Sarabun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328412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Admin/Teacher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3611875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08192" y="3611875"/>
            <a:ext cx="45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64845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  <a:latin typeface="Sarabun"/>
              </a:rPr>
              <a:t>assessments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849619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ผลประเมิน — partitioned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4133082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4133082"/>
            <a:ext cx="45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416965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arabun"/>
              </a:rPr>
              <a:t>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4370826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การแจ้งเตือนความเสี่ยง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4654289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08192" y="4654289"/>
            <a:ext cx="45720" cy="457200"/>
          </a:xfrm>
          <a:prstGeom prst="rect">
            <a:avLst/>
          </a:prstGeom>
          <a:solidFill>
            <a:srgbClr val="8FA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469086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FA3BC"/>
                </a:solidFill>
                <a:latin typeface="Sarabun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4892033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ประวัติการส่งแจ้งเตือน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5175496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5175496"/>
            <a:ext cx="45720" cy="457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5212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arabun"/>
              </a:rPr>
              <a:t>audit_logs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5413240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PDPA Audit — ทุกการเข้าถึง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SECTION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แผนดำเนินการและ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Roadmap  ·  สิ่งที่ต้องการ  ·  ตัวชี้วัดความสำเร็จ  ·  ประโยชน์ที่ได้รับ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Roadmap — แผนดำเนินการ 4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แผนงาน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18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CC71"/>
                </a:solidFill>
                <a:latin typeface="Sarabun"/>
              </a:rPr>
              <a:t>✓ เสร็จแล้ว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ระบบหลัก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Backend API ครบทุก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ฐานข้อมูล + Multi-tenant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Authentication: OTP +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แบบประเมิน 3 ชุด (ST-5/PHQ-A/CDI)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Admin Dashboard ทุกหน้า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Import ข้อมูลนักเรียน (CSV)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Frontend ทุกหน้า + Offline PWA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4992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987552"/>
            <a:ext cx="26517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B1"/>
                </a:solidFill>
                <a:latin typeface="Sarabun"/>
              </a:rPr>
              <a:t>⏳ กำลังพัฒนา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Alerts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LINE Notify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Email SMTP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รายงาน PDF/Excel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Alert Dashboard + Status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Recommendation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System integration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UAT กับผู้ใช้งานจริง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4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1344" y="987552"/>
            <a:ext cx="265176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91072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90FF"/>
                </a:solidFill>
                <a:latin typeface="Sarabun"/>
              </a:rPr>
              <a:t>📋 ถัดไป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Pilot &amp; Roll-out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ทดสอบโรงเรียนนำร่อง 3-5 แห่ง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เก็บ Feedback จากครูแนะแนว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ปรับปรุงระบบตาม feedback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อบรมครูแนะแนวทั่วจังหวัด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Import นักเรียนทั้งจังหวัด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เปิดใช้งานจริง (Go-live)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Monitor 30 วันแรก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7696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97696" y="987552"/>
            <a:ext cx="2651760" cy="45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07424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C040"/>
                </a:solidFill>
                <a:latin typeface="Sarabun"/>
              </a:rPr>
              <a:t>🔮 อนาคต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4856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856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Expansion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Multi-province (จังหวัดอื่น)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6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AI Recommendations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34856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Telehealth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Mobile App native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API เชื่อมระบบสาธารณสุข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4856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BI Dashboard ระดับประเทศ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4856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Predictive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สิ่งที่ต้องการเพื่อเริ่มใช้งานจริง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19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0292" cy="2331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ข้อมูลนักเรียน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รายชื่อนักเรียนทุกโรงเรียน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รหัสนักเรียน, เลขบัตรประชาชน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วันเกิด, ชั้นเรียน, 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ระบบรองรับ Import CSV จาก Excel ได้เลย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05840"/>
            <a:ext cx="50292" cy="2331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LINE Notify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Token สำหรับส่งแจ้งเตือนเข้ากลุ่มไลน์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กลุ่มครูแนะแนวแต่ละโรงเรียน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กลุ่มผู้บริหารระดับอำเภอ-จังหวัด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ขอ Token ฟรีที่ notify.line.me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005840"/>
            <a:ext cx="50292" cy="2331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Email SMTP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ข้อมูล Email Server สำหรับ Backup alert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SMTP Host, Port, Username, Password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ใช้ Gmail, Outlook, หรือ Email หน่วยงาน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56432"/>
            <a:ext cx="50292" cy="2331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ทีมทดสอบนำร่อง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ผู้ร่วมทดสอบช่วง Pilot 2-4 สัปดาห์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ครูแนะแนว 1-2 คน/โรงเรียน (3-5 โรง)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นักเรียกลุ่มทดสอบ 20-50 คน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ผู้บริหาร UAT และให้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56432"/>
            <a:ext cx="50292" cy="2331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Credentials &amp;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ข้อมูลสำหรับตั้งค่าและ Deploy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SMS OTP Provider (สำหรับ Login)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Encryption Key 32 ตัวอักษร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Server หรือ Cloud (Docker ready)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56432"/>
            <a:ext cx="50292" cy="2331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แผนอบรมผู้ใช้งาน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เตรียมผู้ใช้งานก่อน Roll-out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อบรมครูแนะแนว: Dashboard + Alert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อบรมผู้บริหาร: รายงานและ Trend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เอกสาร User Manual ภาษาไทย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ตัวชี้วัดความสำเร็จ (Key Performance Indicators)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  <a:latin typeface="Sarabun"/>
              </a:rPr>
              <a:t>📊  KPI ด้านการใช้งาน (Operational)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45720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27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ความครอบคลุม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904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B1"/>
                </a:solidFill>
                <a:latin typeface="Sarabun"/>
              </a:rPr>
              <a:t>≥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นักเรียนทำแบบประเมินครบภายใน 30 วันแรก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58568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58568"/>
            <a:ext cx="45720" cy="7132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22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Alert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90FF"/>
                </a:solidFill>
                <a:latin typeface="Sarabun"/>
              </a:rPr>
              <a:t>&lt; 5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เวลาแจ้งเตือนถึงครูนับจากที่นักเรียนส่งผล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54096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4572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118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System Uptime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0815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  <a:latin typeface="Sarabun"/>
              </a:rPr>
              <a:t>≥ 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38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ระบบพร้อมใช้งานตลอดเวลาทำการโรงเรียน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49624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49624"/>
            <a:ext cx="45720" cy="7132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13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Alert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8770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arabun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2336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ทุก Critical Alert ต้องมีการดำเนินการ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45152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645152"/>
            <a:ext cx="45720" cy="7132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709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Data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672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Sarabun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29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ผลการประเมินตรงกับ scoring algorithm สากล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024128"/>
            <a:ext cx="5242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  <a:latin typeface="Sarabun"/>
              </a:rPr>
              <a:t>🎯  KPI ด้านผลลัพธ์ (Outcome)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463040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463040"/>
            <a:ext cx="45720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1527048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Early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1847088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พบเคสวิกฤตก่อนบานปลาย — ลดผลกระทบระยะยาว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258568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258568"/>
            <a:ext cx="4572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322576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ลดเวลาประเมิน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642616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จากหลายวัน → ทันที — ครูมีเวลาดูแลมากขึ้น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054096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054096"/>
            <a:ext cx="45720" cy="7132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3118104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Data-driven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438144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ผู้บริหารตัดสินใจจากข้อมูลจริง ไม่ใช่ความรู้สึก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849624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3849624"/>
            <a:ext cx="45720" cy="7132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3913632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PDPA Compliant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4233672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ผ่านการตรวจสอบ 100% ลดความเสี่ยงทางกฎหมาย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645152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4645152"/>
            <a:ext cx="4572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709160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ครอบคลุมห่างไกล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029200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โรงเรียนพื้นที่ห่างไกล Offline PWA ยังใช้ได้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ประโยชน์ที่จังหวัดเลยได้รับ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ประโยชน์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21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029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ลดเวลาประเมิน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ประเมิน 100K นักเรียนจากหลายเดือน → ไม่กี่สัปดาห์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ผลรู้ทันที ไม่ต้องรอรวม Excel หรือนับมือ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05840"/>
            <a:ext cx="50292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เห็นภาพจังหวัด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ผู้บริหารเห็น Trend รายอำเภอ/โรงเรียน Real-time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เป็นครั้งแรกของจังหวัด — ตัดสินใจได้ทันที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005840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ไม่พลาดวิกฤต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แจ้งเตือนอัตโนมัติทันที ไม่มีช่องว่างในการดูแล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ลดความเสี่ยงที่จะพลาดเคสที่ต้องการความช่วยเหลือ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ถูกกฎหมาย PDPA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จัดเก็บและประมวลผลข้อมูลถูกต้องตามกฎหมาย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ลดความเสี่ยงทางกฎหมาย เบี้ยปรับสูงสุด 5 ล้านบาท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50292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ข้อมูลเชิงนโยบาย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รายงานประจำปีและ Trend ช่วยวางแผนงบประมาณ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อ้างอิงในรายงานระดับจังหวัดและส่วนกลาง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ครอบคลุมทุกพื้นที่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โรงเรียนห่างไกลไม่มีเน็ตก็ทำแบบประเมินได้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Offline PWA — Sync อัตโนมัติเมื่อกลับออนไลน์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4247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C"/>
                </a:solidFill>
                <a:latin typeface="Sarabun"/>
              </a:rPr>
              <a:t>ขอบคุณ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1810512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E5C8"/>
                </a:solidFill>
                <a:latin typeface="Sarabun"/>
              </a:rPr>
              <a:t>LEMCS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F0FE"/>
                </a:solidFill>
                <a:latin typeface="Sarabun"/>
              </a:rPr>
              <a:t>ระบบดิจิทัลประเมินสุขภาพจิตนักเรียน  K-12  จังหวัดเลย  ประเทศไทย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0967" y="4114800"/>
            <a:ext cx="4114800" cy="80467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40967" y="4114800"/>
            <a:ext cx="411480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847" y="41879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🌐  เว็บไซต์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847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lemcs.loeitech.ac.th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5927" y="4114800"/>
            <a:ext cx="4114800" cy="80467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35927" y="4114800"/>
            <a:ext cx="4114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8807" y="41879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🔧  API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8807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Sarabun"/>
              </a:rPr>
              <a:t>api-lemcs.loeitech.ac.th/docs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พัฒนาเพื่อนักเรียนจังหวัดเลยกว่า 100,000 คน  ·  พ.ศ. 2568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